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7" r:id="rId5"/>
    <p:sldId id="268" r:id="rId6"/>
    <p:sldId id="263" r:id="rId7"/>
    <p:sldId id="264" r:id="rId8"/>
    <p:sldId id="265" r:id="rId9"/>
    <p:sldId id="266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39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1350" y="2133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422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422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356350" y="2133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137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137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413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422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422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63563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137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7137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41350" y="5181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8" hasCustomPrompt="1"/>
            <p:custDataLst>
              <p:tags r:id="rId19"/>
            </p:custDataLst>
          </p:nvPr>
        </p:nvSpPr>
        <p:spPr>
          <a:xfrm>
            <a:off x="1422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9" hasCustomPrompt="1"/>
            <p:custDataLst>
              <p:tags r:id="rId20"/>
            </p:custDataLst>
          </p:nvPr>
        </p:nvSpPr>
        <p:spPr>
          <a:xfrm>
            <a:off x="1422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9304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489200"/>
            <a:ext cx="2514600" cy="3352800"/>
          </a:xfrm>
          <a:custGeom>
            <a:avLst/>
            <a:gdLst>
              <a:gd name="connisteX0" fmla="*/ 0 w 2514600"/>
              <a:gd name="connsiteY0" fmla="*/ 203200 h 3352800"/>
              <a:gd name="connisteX1" fmla="*/ 203200 w 2514600"/>
              <a:gd name="connsiteY1" fmla="*/ 0 h 3352800"/>
              <a:gd name="connisteX2" fmla="*/ 2311400 w 2514600"/>
              <a:gd name="connsiteY2" fmla="*/ 0 h 3352800"/>
              <a:gd name="connisteX3" fmla="*/ 2514600 w 2514600"/>
              <a:gd name="connsiteY3" fmla="*/ 203200 h 3352800"/>
              <a:gd name="connisteX4" fmla="*/ 2514600 w 2514600"/>
              <a:gd name="connsiteY4" fmla="*/ 3149600 h 3352800"/>
              <a:gd name="connisteX5" fmla="*/ 2311400 w 2514600"/>
              <a:gd name="connsiteY5" fmla="*/ 3352800 h 3352800"/>
              <a:gd name="connisteX6" fmla="*/ 203200 w 2514600"/>
              <a:gd name="connsiteY6" fmla="*/ 3352800 h 3352800"/>
              <a:gd name="connisteX7" fmla="*/ 0 w 2514600"/>
              <a:gd name="connsiteY7" fmla="*/ 3149600 h 3352800"/>
              <a:gd name="connisteX8" fmla="*/ 0 w 25146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149600"/>
                </a:lnTo>
                <a:cubicBezTo>
                  <a:pt x="2514600" y="3261824"/>
                  <a:pt x="2423624" y="3352800"/>
                  <a:pt x="23114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2512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9304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489200"/>
            <a:ext cx="2514600" cy="3352800"/>
          </a:xfrm>
          <a:custGeom>
            <a:avLst/>
            <a:gdLst>
              <a:gd name="connisteX0" fmla="*/ 0 w 2514600"/>
              <a:gd name="connsiteY0" fmla="*/ 203200 h 3352800"/>
              <a:gd name="connisteX1" fmla="*/ 203200 w 2514600"/>
              <a:gd name="connsiteY1" fmla="*/ 0 h 3352800"/>
              <a:gd name="connisteX2" fmla="*/ 2311400 w 2514600"/>
              <a:gd name="connsiteY2" fmla="*/ 0 h 3352800"/>
              <a:gd name="connisteX3" fmla="*/ 2514600 w 2514600"/>
              <a:gd name="connsiteY3" fmla="*/ 203200 h 3352800"/>
              <a:gd name="connisteX4" fmla="*/ 2514600 w 2514600"/>
              <a:gd name="connsiteY4" fmla="*/ 3149600 h 3352800"/>
              <a:gd name="connisteX5" fmla="*/ 2311400 w 2514600"/>
              <a:gd name="connsiteY5" fmla="*/ 3352800 h 3352800"/>
              <a:gd name="connisteX6" fmla="*/ 203200 w 2514600"/>
              <a:gd name="connsiteY6" fmla="*/ 3352800 h 3352800"/>
              <a:gd name="connisteX7" fmla="*/ 0 w 2514600"/>
              <a:gd name="connsiteY7" fmla="*/ 3149600 h 3352800"/>
              <a:gd name="connisteX8" fmla="*/ 0 w 25146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149600"/>
                </a:lnTo>
                <a:cubicBezTo>
                  <a:pt x="2514600" y="3261824"/>
                  <a:pt x="2423624" y="3352800"/>
                  <a:pt x="23114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32512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9304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489200"/>
            <a:ext cx="2514600" cy="3352800"/>
          </a:xfrm>
          <a:custGeom>
            <a:avLst/>
            <a:gdLst>
              <a:gd name="connisteX0" fmla="*/ 0 w 2514600"/>
              <a:gd name="connsiteY0" fmla="*/ 203200 h 3352800"/>
              <a:gd name="connisteX1" fmla="*/ 203200 w 2514600"/>
              <a:gd name="connsiteY1" fmla="*/ 0 h 3352800"/>
              <a:gd name="connisteX2" fmla="*/ 2311400 w 2514600"/>
              <a:gd name="connsiteY2" fmla="*/ 0 h 3352800"/>
              <a:gd name="connisteX3" fmla="*/ 2514600 w 2514600"/>
              <a:gd name="connsiteY3" fmla="*/ 203200 h 3352800"/>
              <a:gd name="connisteX4" fmla="*/ 2514600 w 2514600"/>
              <a:gd name="connsiteY4" fmla="*/ 3149600 h 3352800"/>
              <a:gd name="connisteX5" fmla="*/ 2311400 w 2514600"/>
              <a:gd name="connsiteY5" fmla="*/ 3352800 h 3352800"/>
              <a:gd name="connisteX6" fmla="*/ 203200 w 2514600"/>
              <a:gd name="connsiteY6" fmla="*/ 3352800 h 3352800"/>
              <a:gd name="connisteX7" fmla="*/ 0 w 2514600"/>
              <a:gd name="connsiteY7" fmla="*/ 3149600 h 3352800"/>
              <a:gd name="connisteX8" fmla="*/ 0 w 25146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149600"/>
                </a:lnTo>
                <a:cubicBezTo>
                  <a:pt x="2514600" y="3261824"/>
                  <a:pt x="2423624" y="3352800"/>
                  <a:pt x="23114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32512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9304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489200"/>
            <a:ext cx="2514600" cy="3352800"/>
          </a:xfrm>
          <a:custGeom>
            <a:avLst/>
            <a:gdLst>
              <a:gd name="connisteX0" fmla="*/ 0 w 2514600"/>
              <a:gd name="connsiteY0" fmla="*/ 203200 h 3352800"/>
              <a:gd name="connisteX1" fmla="*/ 203200 w 2514600"/>
              <a:gd name="connsiteY1" fmla="*/ 0 h 3352800"/>
              <a:gd name="connisteX2" fmla="*/ 2311400 w 2514600"/>
              <a:gd name="connsiteY2" fmla="*/ 0 h 3352800"/>
              <a:gd name="connisteX3" fmla="*/ 2514600 w 2514600"/>
              <a:gd name="connsiteY3" fmla="*/ 203200 h 3352800"/>
              <a:gd name="connisteX4" fmla="*/ 2514600 w 2514600"/>
              <a:gd name="connsiteY4" fmla="*/ 3149600 h 3352800"/>
              <a:gd name="connisteX5" fmla="*/ 2311400 w 2514600"/>
              <a:gd name="connsiteY5" fmla="*/ 3352800 h 3352800"/>
              <a:gd name="connisteX6" fmla="*/ 203200 w 2514600"/>
              <a:gd name="connsiteY6" fmla="*/ 3352800 h 3352800"/>
              <a:gd name="connisteX7" fmla="*/ 0 w 2514600"/>
              <a:gd name="connsiteY7" fmla="*/ 3149600 h 3352800"/>
              <a:gd name="connisteX8" fmla="*/ 0 w 25146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149600"/>
                </a:lnTo>
                <a:cubicBezTo>
                  <a:pt x="2514600" y="3261824"/>
                  <a:pt x="2423624" y="3352800"/>
                  <a:pt x="23114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32512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5052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4008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4008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4165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7244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33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21336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4384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4384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77724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2484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77200" y="1892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77200" y="24511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9144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9144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6553200" y="44069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6553200" y="4965700"/>
            <a:ext cx="3200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7" Type="http://schemas.openxmlformats.org/officeDocument/2006/relationships/theme" Target="../theme/theme2.xml"/><Relationship Id="rId16" Type="http://schemas.openxmlformats.org/officeDocument/2006/relationships/tags" Target="../tags/tag116.xml"/><Relationship Id="rId15" Type="http://schemas.openxmlformats.org/officeDocument/2006/relationships/tags" Target="../tags/tag115.xml"/><Relationship Id="rId14" Type="http://schemas.openxmlformats.org/officeDocument/2006/relationships/tags" Target="../tags/tag114.xml"/><Relationship Id="rId13" Type="http://schemas.openxmlformats.org/officeDocument/2006/relationships/tags" Target="../tags/tag113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 userDrawn="1">
            <p:custDataLst>
              <p:tags r:id="rId8"/>
            </p:custDataLst>
          </p:nvPr>
        </p:nvSpPr>
        <p:spPr>
          <a:xfrm>
            <a:off x="9199880" y="428625"/>
            <a:ext cx="2992120" cy="5833745"/>
          </a:xfrm>
          <a:custGeom>
            <a:avLst/>
            <a:gdLst>
              <a:gd name="connsiteX0" fmla="*/ 4697 w 4712"/>
              <a:gd name="connsiteY0" fmla="*/ 0 h 10758"/>
              <a:gd name="connsiteX1" fmla="*/ 4682 w 4712"/>
              <a:gd name="connsiteY1" fmla="*/ 947 h 10758"/>
              <a:gd name="connsiteX2" fmla="*/ 727 w 4712"/>
              <a:gd name="connsiteY2" fmla="*/ 5212 h 10758"/>
              <a:gd name="connsiteX3" fmla="*/ 4697 w 4712"/>
              <a:gd name="connsiteY3" fmla="*/ 9795 h 10758"/>
              <a:gd name="connsiteX4" fmla="*/ 4712 w 4712"/>
              <a:gd name="connsiteY4" fmla="*/ 10758 h 10758"/>
              <a:gd name="connsiteX5" fmla="*/ 0 w 4712"/>
              <a:gd name="connsiteY5" fmla="*/ 5212 h 10758"/>
              <a:gd name="connsiteX6" fmla="*/ 4697 w 4712"/>
              <a:gd name="connsiteY6" fmla="*/ 0 h 10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12" h="10758">
                <a:moveTo>
                  <a:pt x="4697" y="0"/>
                </a:moveTo>
                <a:lnTo>
                  <a:pt x="4682" y="947"/>
                </a:lnTo>
                <a:lnTo>
                  <a:pt x="727" y="5212"/>
                </a:lnTo>
                <a:lnTo>
                  <a:pt x="4697" y="9795"/>
                </a:lnTo>
                <a:lnTo>
                  <a:pt x="4712" y="10758"/>
                </a:lnTo>
                <a:lnTo>
                  <a:pt x="0" y="5212"/>
                </a:lnTo>
                <a:lnTo>
                  <a:pt x="4697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9"/>
            </p:custDataLst>
          </p:nvPr>
        </p:nvSpPr>
        <p:spPr>
          <a:xfrm>
            <a:off x="10914319" y="1953780"/>
            <a:ext cx="1277681" cy="2615453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10"/>
            </p:custDataLst>
          </p:nvPr>
        </p:nvSpPr>
        <p:spPr>
          <a:xfrm flipH="1">
            <a:off x="0" y="5054600"/>
            <a:ext cx="789940" cy="1803400"/>
          </a:xfrm>
          <a:custGeom>
            <a:avLst/>
            <a:gdLst>
              <a:gd name="ir" fmla="*/ w 3 4"/>
              <a:gd name="ib" fmla="*/ h 3 4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012" h="4119">
                <a:moveTo>
                  <a:pt x="2012" y="0"/>
                </a:moveTo>
                <a:lnTo>
                  <a:pt x="2012" y="4119"/>
                </a:lnTo>
                <a:lnTo>
                  <a:pt x="0" y="2059"/>
                </a:lnTo>
                <a:lnTo>
                  <a:pt x="2012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>
              <a:lumMod val="65000"/>
              <a:lumOff val="35000"/>
            </a:schemeClr>
          </a:solidFill>
          <a:effectLst>
            <a:outerShdw>
              <a:srgbClr val="FFFFFF"/>
            </a:outerShdw>
          </a:effectLst>
          <a:uFill>
            <a:solidFill>
              <a:schemeClr val="tx1">
                <a:lumMod val="65000"/>
                <a:lumOff val="3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1.jpeg"/><Relationship Id="rId3" Type="http://schemas.openxmlformats.org/officeDocument/2006/relationships/tags" Target="../tags/tag127.xml"/><Relationship Id="rId23" Type="http://schemas.openxmlformats.org/officeDocument/2006/relationships/slideLayout" Target="../slideLayouts/slideLayout16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6.xml"/><Relationship Id="rId19" Type="http://schemas.openxmlformats.org/officeDocument/2006/relationships/image" Target="../media/image4.png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image" Target="../media/image3.jpeg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5.jpeg"/><Relationship Id="rId2" Type="http://schemas.openxmlformats.org/officeDocument/2006/relationships/tags" Target="../tags/tag144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tags" Target="../tags/tag16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tags" Target="../tags/tag191.xml"/><Relationship Id="rId12" Type="http://schemas.openxmlformats.org/officeDocument/2006/relationships/tags" Target="../tags/tag190.xml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tags" Target="../tags/tag1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思政课主观题智能生成与评分系统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2070135"/>
            <a:ext cx="3251200" cy="406400"/>
          </a:xfrm>
        </p:spPr>
        <p:txBody>
          <a:bodyPr/>
          <a:p>
            <a:r>
              <a:rPr lang="zh-CN" altLang="en-US"/>
              <a:t>核心任务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00" y="2628935"/>
            <a:ext cx="3251200" cy="1219200"/>
          </a:xfrm>
        </p:spPr>
        <p:txBody>
          <a:bodyPr/>
          <a:p>
            <a:r>
              <a:rPr lang="zh-CN" altLang="en-US"/>
              <a:t>自动生成考题与标答，</a:t>
            </a:r>
            <a:endParaRPr lang="zh-CN" altLang="en-US"/>
          </a:p>
          <a:p>
            <a:r>
              <a:rPr lang="zh-CN" altLang="en-US"/>
              <a:t>构建可解释的评分要点，</a:t>
            </a:r>
            <a:endParaRPr lang="zh-CN" altLang="en-US"/>
          </a:p>
          <a:p>
            <a:r>
              <a:rPr lang="zh-CN" altLang="en-US"/>
              <a:t>支持有/无标答两种评分场景。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关键挑战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思政题的语言开放性（政治表达、思想逻辑），</a:t>
            </a:r>
            <a:endParaRPr lang="zh-CN" altLang="en-US"/>
          </a:p>
          <a:p>
            <a:r>
              <a:rPr lang="zh-CN" altLang="en-US"/>
              <a:t>公平性与一致性，</a:t>
            </a:r>
            <a:endParaRPr lang="zh-CN" altLang="en-US"/>
          </a:p>
          <a:p>
            <a:r>
              <a:rPr lang="zh-CN" altLang="en-US"/>
              <a:t>"生成"与"理解"的兼顾（NLG + NLU）。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8331200" y="3674671"/>
            <a:ext cx="3251200" cy="406400"/>
          </a:xfrm>
        </p:spPr>
        <p:txBody>
          <a:bodyPr/>
          <a:p>
            <a:r>
              <a:rPr lang="zh-CN" altLang="en-US"/>
              <a:t>技术核心关注点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8331200" y="4233471"/>
            <a:ext cx="3251200" cy="1219200"/>
          </a:xfrm>
        </p:spPr>
        <p:txBody>
          <a:bodyPr/>
          <a:p>
            <a:r>
              <a:rPr lang="zh-CN" altLang="en-US"/>
              <a:t>语义理解（NLP），生成质量控制（LLM），评分一致性（基于对齐与语义匹配的评价指标）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阶段一：构建高质量训练数据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5edc7efb-aef2-11f0-80d6-d668562d2506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 l="26620" t="12931" r="24034" b="15517"/>
          <a:stretch>
            <a:fillRect/>
          </a:stretch>
        </p:blipFill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数据来源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思政</a:t>
            </a:r>
            <a:r>
              <a:rPr lang="zh-CN" altLang="en-US">
                <a:cs typeface="Arial" panose="020B0604020202020204" pitchFamily="34" charset="0"/>
              </a:rPr>
              <a:t>题目</a:t>
            </a:r>
            <a:r>
              <a:rPr lang="zh-CN" altLang="en-US"/>
              <a:t>数据集</a:t>
            </a:r>
            <a:endParaRPr lang="zh-CN" altLang="en-US"/>
          </a:p>
          <a:p>
            <a:r>
              <a:rPr lang="zh-CN" altLang="en-US"/>
              <a:t>人工收集+</a:t>
            </a:r>
            <a:r>
              <a:rPr lang="en-US" altLang="zh-CN"/>
              <a:t>AIGC</a:t>
            </a:r>
            <a:endParaRPr lang="zh-CN" altLang="en-US"/>
          </a:p>
          <a:p>
            <a:r>
              <a:rPr lang="zh-CN" altLang="en-US"/>
              <a:t>（2000条题目+标答，1000条含要点）。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5edc7e90-aef2-11f0-80d6-d668562d2506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 r="31034"/>
          <a:stretch>
            <a:fillRect/>
          </a:stretch>
        </p:blipFill>
        <p:spPr>
          <a:xfrm>
            <a:off x="62484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数据划分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训练集（70%）</a:t>
            </a:r>
            <a:endParaRPr lang="zh-CN" altLang="en-US"/>
          </a:p>
          <a:p>
            <a:r>
              <a:rPr lang="zh-CN" altLang="en-US"/>
              <a:t>验证集（15%）</a:t>
            </a:r>
            <a:endParaRPr lang="zh-CN" altLang="en-US"/>
          </a:p>
          <a:p>
            <a:r>
              <a:rPr lang="zh-CN" altLang="en-US"/>
              <a:t>测试集（15%）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5edc8181-aef2-11f0-80d6-d668562d2506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 l="2671" r="2671"/>
          <a:stretch>
            <a:fillRect/>
          </a:stretch>
        </p:blipFill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数据清洗与标准化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统一题型格式（简答、论述、案例分析），去除重复与语义重叠项，标答与要点评分标准规范化。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default_2_img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 l="30603" r="30603"/>
          <a:stretch>
            <a:fillRect/>
          </a:stretch>
        </p:blipFill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数据增强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使用LLM生成同义改写题目，加入多样回答（正确/模糊/错误）以丰富评分样本。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阶段二：考题与标准答案自动生成</a:t>
            </a:r>
            <a:endParaRPr lang="zh-CN" altLang="en-US"/>
          </a:p>
        </p:txBody>
      </p:sp>
      <p:pic>
        <p:nvPicPr>
          <p:cNvPr id="3" name="内容占位符 2" descr="5c5c336b-aef2-11f0-89c4-9a776382d5bb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969" b="969"/>
          <a:stretch>
            <a:fillRect/>
          </a:stretch>
        </p:blipFill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任务定义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将课程知识点或主题文本生成考题+标答+要点。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可选模型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基于LLM（如GPT-4-turbo/o3-mini）的few-shot prompt生成；或微调T5/BART/ChatGLM3等中文生成模型。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Prompt设计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Input: "知识点 + 思政教学目标"，Output: "主观题 + 标答 + 3-5个评分要点"。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质量控制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自动语义一致性检测（SimCSE/BERTScore），教师人工验证部分结果。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阶段三：评分基准匹配与语义评估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语义相似度评分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模型：SimCSE/Sentence-BERT/ERNIE 3.0，指标：与标答或要点的平均相似度→评分。</a:t>
            </a:r>
            <a:endParaRPr lang="zh-CN" altLang="en-US"/>
          </a:p>
        </p:txBody>
      </p:sp>
      <p:sp>
        <p:nvSpPr>
          <p:cNvPr id="6" name="装饰  2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关键要点匹配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使用NLP关键词提取+语义聚类，检测学生答案是否覆盖核心要点。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生成式判分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Prompt示例：根据标准答案和要点，为学生答案评分（满分10分），并指出缺失点。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阶段四：基于语义理解的开放式评分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隐性评分模型</a:t>
            </a:r>
            <a:endParaRPr lang="zh-CN" altLang="en-US"/>
          </a:p>
        </p:txBody>
      </p:sp>
      <p:sp>
        <p:nvSpPr>
          <p:cNvPr id="4" name="装饰  0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使用已有"题目-答案-分数"样本微调评分模型（如RoBERTa或LLaMA微调）。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LLM作为评分器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Prompt示例：为以下主观题答案打分（0-10分），依据思想深度、逻辑性与价值观正向性。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自动构造参考要点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用知识图谱/LLM自动生成"理想要点"，评分时与学生答案比对。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结果校准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结合语义得分+情感倾向+句法逻辑评分，最终分数=语义得分*α+思想正向性得分*β。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项目时间表与目标里程碑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数据准备阶段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第1-2周，主要任务：清洗、标注、增强，输出成果：标准化数据集。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91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题目生成阶段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第3-4周，主要任务：基于LLM生成考题与标答，输出成果：初步题库。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打分模型阶段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第5-6周，主要任务：训练语义评分模型，输出成果：自动评分模块。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7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5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无标答评分阶段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6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第7-8周，主要任务：设计开放式评分Prompt，输出成果：原型系统。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400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8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验证与展示阶段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第9周，主要任务：测试与教师验证，输出成果：最终汇报PPT与Demo。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自动评分系统面临的核心挑战</a:t>
            </a:r>
            <a:endParaRPr lang="zh-CN" altLang="en-US"/>
          </a:p>
        </p:txBody>
      </p:sp>
      <p:sp>
        <p:nvSpPr>
          <p:cNvPr id="3" name="装饰  9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数据质量与标准化问题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自动评分系统首先面临的数据挑战包括题目与答案的质量参差不齐，存在空答案、重复题目等问题，同时缺乏统一的数据格式标准，导致不同来源的数据难以直接用于模型训练和评分。</a:t>
            </a:r>
            <a:endParaRPr lang="zh-CN" altLang="en-US"/>
          </a:p>
        </p:txBody>
      </p:sp>
      <p:sp>
        <p:nvSpPr>
          <p:cNvPr id="7" name="装饰  4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评分准确性与一致性难题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如何确保评分结果与人工评分保持高度一致是核心技术挑战，特别是在处理无标答题目、复杂表述和主观题时，系统需要平衡准确性与解释性，同时保持不同题目类型间的评分标准统一。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模型适应性与泛化能力不足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现有模型在特定题型和数据集上表现尚可，但面对新题型、跨领域题目或少量标注数据时，泛化能力显著下降，难以适应实际教学场景中的多样化需求。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2476e132c51045f0814b638fc633c72916a5de"/>
  <p:tag name="KSO_WM_NEWLAYOUT_GROUP_ID" val="layout_27"/>
  <p:tag name="KSO_WM_NEWLAYOUT_ID" val="slide_bbec08b93f7bcfad"/>
</p:tagLst>
</file>

<file path=ppt/tags/tag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366f5b47e2bac1ed09921a0a1fdee1ed1588ca"/>
  <p:tag name="KSO_WM_NEWLAYOUT_GROUP_ID" val="layout_35"/>
  <p:tag name="KSO_WM_NEWLAYOUT_ID" val="slide_eebcb85bcbb747d8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571129713f844438d4fb08e6b0de6da79e8922"/>
  <p:tag name="KSO_WM_NEWLAYOUT_GROUP_ID" val="layout_10003"/>
  <p:tag name="KSO_WM_NEWLAYOUT_ID" val="slide_41b15e753c583406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79b859c25db817961397548fac7659da9d38e4"/>
  <p:tag name="KSO_WM_NEWLAYOUT_GROUP_ID" val="layout_10004"/>
  <p:tag name="KSO_WM_NEWLAYOUT_ID" val="slide_2b12ff2c745fcd2e"/>
</p:tagLst>
</file>

<file path=ppt/tags/tag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af683a415985695ef32bcae998ed9f4e5289cc"/>
  <p:tag name="KSO_WM_NEWLAYOUT_GROUP_ID" val="layout_10013"/>
  <p:tag name="KSO_WM_NEWLAYOUT_ID" val="slide_76aeae7ac000f687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cae22fde232a28b6fd413f5758263fb4040e98b"/>
  <p:tag name="KSO_WM_NEWLAYOUT_GROUP_ID" val="layout_26"/>
  <p:tag name="KSO_WM_NEWLAYOUT_ID" val="slide_f2f0a703e5376311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3accc49712813e7ce2fa88193513f619beb09e"/>
  <p:tag name="KSO_WM_NEWLAYOUT_GROUP_ID" val="layout_10007"/>
  <p:tag name="KSO_WM_NEWLAYOUT_ID" val="slide_3769a8e1402e790d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"/>
  <p:tag name="KSO_WM_UNIT_ID" val="_1**"/>
  <p:tag name="KSO_WM_UNIT_LAYERLEVEL" val="1"/>
  <p:tag name="KSO_WM_TEMPLATE_CATEGORY" val="custom"/>
  <p:tag name="KSO_WM_TEMPLATE_USER_THEME" val="1"/>
</p:tagLst>
</file>

<file path=ppt/tags/tag10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1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11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4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5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1"/>
</p:tagLst>
</file>

<file path=ppt/tags/tag116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1"/>
  <p:tag name="KSO_WM_TEMPLATE_CATEGORY" val="custom"/>
  <p:tag name="KSO_WM_TEMPLATE_MASTER_TYPE" val="0"/>
  <p:tag name="KSO_WM_TAG_VERSION" val="3.0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73accc49712813e7ce2fa88193513f619beb09e"/>
  <p:tag name="KSO_WM_NEWLAYOUT_GROUP_ID" val="layout_10007"/>
  <p:tag name="KSO_WM_NEWLAYOUT_ID" val="slide_3769a8e1402e790d"/>
  <p:tag name="KSO_WM_UNIT_PRESET_TEXT" val="单击此处添加标题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2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3769a8e1402e790d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cae22fde232a28b6fd413f5758263fb4040e98b"/>
  <p:tag name="KSO_WM_NEWLAYOUT_GROUP_ID" val="layout_26"/>
  <p:tag name="KSO_WM_NEWLAYOUT_ID" val="slide_f2f0a703e5376311"/>
  <p:tag name="KSO_WM_UNIT_PRESET_TEXT" val="单击此处添加标题"/>
</p:tagLst>
</file>

<file path=ppt/tags/tag1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73699061&quot;,&quot;product_name&quot;:&quot;wps-wpp-pc&quot;,&quot;intention_code&quot;:&quot;wps_wpp_generate_outline_pay&quot;}*auto_gallery_ai_v2.1.6_ONLINE*5687f994d33d612c99d8acd051abb434-slide-1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588625514&quot;,&quot;product_name&quot;:&quot;wps-wpp-pc&quot;,&quot;intention_code&quot;:&quot;wps_wpp_generate_outline_pay&quot;}*auto_gallery_ai_v2.1.6_ONLINE*5687f994d33d612c99d8acd051abb434-slide-1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510/0f5e343a-1a9c-4864-bc1d-40704680e5b8.jpg?Expires=1792637643\u0026AWSAccessKeyId=AKLT9NSy7kh8TIS1UzNqLRY2\u0026Signature=SOL4gb63Xz%2FKOEFieTUVKYLWG74%3D&quot;,&quot;product_name&quot;:&quot;wps-wpp-pc&quot;,&quot;intention_code&quot;:&quot;wps_wpp_generate_outline_pay&quot;}*auto_qingqiu_ai_v2.1.6_ONLINE*5687f994d33d612c99d8acd051abb434-slide-1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ai_type&quot;:&quot;&quot;,&quot;id&quot;:&quot;&quot;}*_ai_*1761101644629d3b5e41a8ab7-slide-0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14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6307"/>
  <p:tag name="KSO_WM_TEMPLATE_SLIDE_ID" val="slide_f2f0a703e5376311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8af683a415985695ef32bcae998ed9f4e5289cc"/>
  <p:tag name="KSO_WM_NEWLAYOUT_GROUP_ID" val="layout_10013"/>
  <p:tag name="KSO_WM_NEWLAYOUT_ID" val="slide_76aeae7ac000f687"/>
  <p:tag name="KSO_WM_UNIT_PRESET_TEXT" val="单击此处添加标题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b02fe396-e16e-4ad3-bb00-df06dc7ca9c1.jpg?Expires=1792637640\u0026AWSAccessKeyId=AKLT9NSy7kh8TIS1UzNqLRY2\u0026Signature=74fdYwPvd0oJJQVBBbIdI9d%2FXDI%3D&quot;,&quot;product_name&quot;:&quot;wps-wpp-pc&quot;,&quot;intention_code&quot;:&quot;wps_wpp_generate_outline_pay&quot;}*auto_qingqiu_ai_v2.1.6_ONLINE*5687f994d33d612c99d8acd051abb434-slide-2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15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6307"/>
  <p:tag name="KSO_WM_TEMPLATE_SLIDE_ID" val="slide_76aeae7ac000f687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79b859c25db817961397548fac7659da9d38e4"/>
  <p:tag name="KSO_WM_NEWLAYOUT_GROUP_ID" val="layout_10004"/>
  <p:tag name="KSO_WM_NEWLAYOUT_ID" val="slide_2b12ff2c745fcd2e"/>
  <p:tag name="KSO_WM_UNIT_PRESET_TEXT" val="单击此处添加标题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6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2b12ff2c745fcd2e"/>
</p:tagLst>
</file>

<file path=ppt/tags/tag1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0571129713f844438d4fb08e6b0de6da79e8922"/>
  <p:tag name="KSO_WM_NEWLAYOUT_GROUP_ID" val="layout_10003"/>
  <p:tag name="KSO_WM_NEWLAYOUT_ID" val="slide_41b15e753c583406"/>
  <p:tag name="KSO_WM_UNIT_PRESET_TEXT" val="单击此处添加标题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1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1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17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添加项标题"/>
</p:tagLst>
</file>

<file path=ppt/tags/tag1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17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6307"/>
  <p:tag name="KSO_WM_TEMPLATE_SLIDE_ID" val="slide_41b15e753c583406"/>
</p:tagLst>
</file>

<file path=ppt/tags/tag1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366f5b47e2bac1ed09921a0a1fdee1ed1588ca"/>
  <p:tag name="KSO_WM_NEWLAYOUT_GROUP_ID" val="layout_35"/>
  <p:tag name="KSO_WM_NEWLAYOUT_ID" val="slide_eebcb85bcbb747d8"/>
  <p:tag name="KSO_WM_UNIT_PRESET_TEXT" val="单击此处添加标题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2"/>
  <p:tag name="KSO_WM_UNIT_SUBTYPE" val="d"/>
  <p:tag name="KSO_WM_UNIT_TYPE" val="l_h_i"/>
  <p:tag name="KSO_WM_UNIT_PRESET_TEXT" val="05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19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6307"/>
  <p:tag name="KSO_WM_TEMPLATE_SLIDE_ID" val="slide_eebcb85bcbb747d8"/>
</p:tagLst>
</file>

<file path=ppt/tags/tag1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2476e132c51045f0814b638fc633c72916a5de"/>
  <p:tag name="KSO_WM_NEWLAYOUT_GROUP_ID" val="layout_27"/>
  <p:tag name="KSO_WM_NEWLAYOUT_ID" val="slide_bbec08b93f7bcfad"/>
  <p:tag name="KSO_WM_UNIT_PRESET_TEXT" val="单击此处添加标题"/>
</p:tagLst>
</file>

<file path=ppt/tags/tag19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0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0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6307"/>
  <p:tag name="KSO_WM_TEMPLATE_SLIDE_ID" val="slide_bbec08b93f7bcfad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203214"/>
      </a:dk2>
      <a:lt2>
        <a:srgbClr val="F8FBF6"/>
      </a:lt2>
      <a:accent1>
        <a:srgbClr val="70AD47"/>
      </a:accent1>
      <a:accent2>
        <a:srgbClr val="00AB68"/>
      </a:accent2>
      <a:accent3>
        <a:srgbClr val="00A689"/>
      </a:accent3>
      <a:accent4>
        <a:srgbClr val="009BA6"/>
      </a:accent4>
      <a:accent5>
        <a:srgbClr val="008BBB"/>
      </a:accent5>
      <a:accent6>
        <a:srgbClr val="4472C4"/>
      </a:accent6>
      <a:hlink>
        <a:srgbClr val="0026E5"/>
      </a:hlink>
      <a:folHlink>
        <a:srgbClr val="7E1FAD"/>
      </a:folHlink>
    </a:clrScheme>
    <a:fontScheme name="自定义 9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</Words>
  <Application>WPS 演示</Application>
  <PresentationFormat>宽屏</PresentationFormat>
  <Paragraphs>170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1_Office 主题</vt:lpstr>
      <vt:lpstr>思政课主观题智能生成与评分系统</vt:lpstr>
      <vt:lpstr>阶段一：构建高质量训练数据</vt:lpstr>
      <vt:lpstr>阶段二：考题与标准答案自动生成</vt:lpstr>
      <vt:lpstr>阶段三：评分基准匹配与语义评估</vt:lpstr>
      <vt:lpstr>阶段四：基于语义理解的开放式评分</vt:lpstr>
      <vt:lpstr>项目时间表与目标里程碑</vt:lpstr>
      <vt:lpstr>自动评分系统面临的核心挑战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思政课主观题智能生成与评分系统</dc:title>
  <dc:creator/>
  <cp:lastModifiedBy>刘翔</cp:lastModifiedBy>
  <cp:revision>1</cp:revision>
  <dcterms:created xsi:type="dcterms:W3CDTF">2025-10-22T04:27:04Z</dcterms:created>
  <dcterms:modified xsi:type="dcterms:W3CDTF">2025-10-22T04:27:04Z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2B6E4FD4113C4100A9A814C8D6F9B5DE_12</vt:lpwstr>
  </property>
  <property fmtid="{D5CDD505-2E9C-101B-9397-08002B2CF9AE}" pid="4" name="KSOTemplateUUID">
    <vt:lpwstr>v1.0_ai_69796636307</vt:lpwstr>
  </property>
</Properties>
</file>